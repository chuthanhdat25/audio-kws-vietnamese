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4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1B2A"/>
                </a:solidFill>
                <a:latin typeface="Arial"/>
              </a:rPr>
              <a:t>F1 Score theo từng nhãn (mục tiêu &gt; 0.90)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027A4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006-7D49-885E-3043E4617DA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006-7D49-885E-3043E4617DA5}"/>
              </c:ext>
            </c:extLst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006-7D49-885E-3043E4617DA5}"/>
              </c:ext>
            </c:extLst>
          </c:dPt>
          <c:dPt>
            <c:idx val="3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006-7D49-885E-3043E4617DA5}"/>
              </c:ext>
            </c:extLst>
          </c:dPt>
          <c:dPt>
            <c:idx val="4"/>
            <c:invertIfNegative val="0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006-7D49-885E-3043E4617DA5}"/>
              </c:ext>
            </c:extLst>
          </c:dPt>
          <c:dPt>
            <c:idx val="5"/>
            <c:invertIfNegative val="0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006-7D49-885E-3043E4617DA5}"/>
              </c:ext>
            </c:extLst>
          </c:dPt>
          <c:cat>
            <c:strRef>
              <c:f>Sheet1!$A$2:$A$7</c:f>
              <c:strCache>
                <c:ptCount val="6"/>
                <c:pt idx="0">
                  <c:v>co (Val)</c:v>
                </c:pt>
                <c:pt idx="1">
                  <c:v>khong (Val)</c:v>
                </c:pt>
                <c:pt idx="2">
                  <c:v>unknown (Val)</c:v>
                </c:pt>
                <c:pt idx="3">
                  <c:v>noise (Val)</c:v>
                </c:pt>
                <c:pt idx="4">
                  <c:v>co (Test)</c:v>
                </c:pt>
                <c:pt idx="5">
                  <c:v>khong (Test)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0.95</c:v>
                </c:pt>
                <c:pt idx="1">
                  <c:v>0.93</c:v>
                </c:pt>
                <c:pt idx="2">
                  <c:v>0.89</c:v>
                </c:pt>
                <c:pt idx="3">
                  <c:v>0.88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1006-7D49-885E-3043E4617D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VN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VN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3580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7" y="162098"/>
            <a:ext cx="1095617" cy="11430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VN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297" y="386750"/>
            <a:ext cx="665018" cy="6650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1828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DA1B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HỌC VIỆN CÔNG NGHỆ BƯU CHÍNH VIỄN THÔNG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274320" y="5029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SỞ TẠI TP. HỒ CHÍ MINH  |  ELE1421 MẠNG CẢM BIẾN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118872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DẠNG LỆNH GIỌNG NÓI TIẾNG VIỆT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274320" y="182880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 NỀN TẢNG EDGE IMPULSE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274320" y="2377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D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Keyword Spotting (KWS)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371600" y="2880360"/>
            <a:ext cx="64008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5760" y="3063240"/>
            <a:ext cx="265176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31089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SVTH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65760" y="3337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Chu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Thành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Đạt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200400" y="3063240"/>
            <a:ext cx="265176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00400" y="31089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MSSV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200400" y="3337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N23DCCI011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760720" y="3063240"/>
            <a:ext cx="265176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60720" y="31089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760720" y="3337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D23CQCI01-N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274320" y="41148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GVHD: Hồ Nhựt Minh  |  Tháng 05 / 2026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ĐỀ TÀI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011680" cy="3474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9601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1691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Từ Khóa Chính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" y="2194560"/>
            <a:ext cx="9144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233172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dạng "CÓ" và "KHÔNG"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tiếng Việt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450592" y="777240"/>
            <a:ext cx="2011680" cy="3474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6392" y="96012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50592" y="1691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CNN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2999232" y="2194560"/>
            <a:ext cx="9144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450592" y="233172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 + CNN trên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Impulse Studio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626864" y="777240"/>
            <a:ext cx="2011680" cy="3474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2664" y="96012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26864" y="1691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&gt; 0.90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175504" y="2194560"/>
            <a:ext cx="9144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626864" y="233172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hiệu năng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2 lệnh chính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803136" y="777240"/>
            <a:ext cx="2011680" cy="3474720"/>
          </a:xfrm>
          <a:prstGeom prst="rect">
            <a:avLst/>
          </a:prstGeom>
          <a:solidFill>
            <a:srgbClr val="025E73"/>
          </a:solidFill>
          <a:ln w="12700">
            <a:solidFill>
              <a:srgbClr val="025E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8936" y="960120"/>
            <a:ext cx="640080" cy="6400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03136" y="1691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7351776" y="2194560"/>
            <a:ext cx="9144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6803136" y="233172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TFLite cho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bị nhúng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SỞ LÝ THUYẾT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023360" cy="41148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144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914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Spotting (KWS)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150876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Phát hiện từ khóa trong luồng âm thanh liên tục
• Không cần kết nối Internet
• Chạy trực tiếp trên thiết bị edge
• Tiêu thụ năng lượng thấp
• Độ trễ gần như bằng 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80560" y="777240"/>
            <a:ext cx="4389120" cy="4114800"/>
          </a:xfrm>
          <a:prstGeom prst="rect">
            <a:avLst/>
          </a:prstGeom>
          <a:solidFill>
            <a:srgbClr val="1C7293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91440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12080" y="914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MFCC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663440" y="1508760"/>
            <a:ext cx="274320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029200" y="1508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Phân khung (Framing)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663440" y="2075688"/>
            <a:ext cx="274320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29200" y="207568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Cửa sổ Hamming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663440" y="2642616"/>
            <a:ext cx="274320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029200" y="264261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FFT → Phổ tần số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663440" y="3209544"/>
            <a:ext cx="274320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029200" y="320954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Mel Filterbank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663440" y="3776472"/>
            <a:ext cx="274320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029200" y="377647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Log + DCT → MFCC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THẬP DỮ LIỆU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011680" cy="2286000"/>
          </a:xfrm>
          <a:prstGeom prst="rect">
            <a:avLst/>
          </a:prstGeom>
          <a:solidFill>
            <a:srgbClr val="027A48"/>
          </a:solidFill>
          <a:ln w="12700">
            <a:solidFill>
              <a:srgbClr val="027A48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914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mẫu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178308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Lệnh xác nhận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tiếng Việt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50592" y="777240"/>
            <a:ext cx="2011680" cy="2286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50592" y="914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450592" y="1371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mẫu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50592" y="178308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Lệnh phủ định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tiếng Việt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26864" y="777240"/>
            <a:ext cx="2011680" cy="228600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26864" y="914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26864" y="1371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mẫu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26864" y="178308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Tiếng ồn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môi trường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03136" y="777240"/>
            <a:ext cx="2011680" cy="228600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03136" y="914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803136" y="1371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mẫu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03136" y="178308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ngẫu nhiên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246120"/>
            <a:ext cx="8503920" cy="1645920"/>
          </a:xfrm>
          <a:prstGeom prst="rect">
            <a:avLst/>
          </a:prstGeom>
          <a:solidFill>
            <a:srgbClr val="E8F4FD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83280"/>
            <a:ext cx="411480" cy="41148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60120" y="333756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Thu Âm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57200" y="37490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Kết nối điện thoại với Edge Impulse qua QR code  ✓ Sample length: 1.000 ms  ✓ Sample rate: 16.000 Hz
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Thu ở nhiều môi trường khác nhau  ✓ Tự động chia train/test = 80/20  ✓ Tổng: ~200 mẫu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HỆ THỐNG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645920" y="2148840"/>
            <a:ext cx="32004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92808" y="201168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2C39A"/>
                </a:solidFill>
              </a:rPr>
              <a:t>▶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005840"/>
            <a:ext cx="822960" cy="8229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161288"/>
            <a:ext cx="512064" cy="51206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28600" y="1965960"/>
            <a:ext cx="160020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8600" y="198424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Âm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28600" y="242316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Điện thoại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D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Edge Impulse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83280" y="2148840"/>
            <a:ext cx="32004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30168" y="201168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2C39A"/>
                </a:solidFill>
              </a:rPr>
              <a:t>▶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240280" y="1005840"/>
            <a:ext cx="822960" cy="8229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5728" y="1161288"/>
            <a:ext cx="512064" cy="51206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1965960" y="1965960"/>
            <a:ext cx="160020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965960" y="198424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965960" y="242316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Trích xuất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D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đặc trưng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120640" y="2148840"/>
            <a:ext cx="32004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367528" y="201168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2C39A"/>
                </a:solidFill>
              </a:rPr>
              <a:t>▶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3977640" y="100584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3088" y="1161288"/>
            <a:ext cx="512064" cy="512064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3703320" y="1965960"/>
            <a:ext cx="160020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703320" y="198424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3703320" y="242316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Huấn luyện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D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858000" y="2148840"/>
            <a:ext cx="32004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7104888" y="201168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2C39A"/>
                </a:solidFill>
              </a:rPr>
              <a:t>▶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5715000" y="1005840"/>
            <a:ext cx="822960" cy="822960"/>
          </a:xfrm>
          <a:prstGeom prst="ellipse">
            <a:avLst/>
          </a:prstGeom>
          <a:solidFill>
            <a:srgbClr val="025E73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0448" y="1161288"/>
            <a:ext cx="512064" cy="512064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5440680" y="1965960"/>
            <a:ext cx="1600200" cy="411480"/>
          </a:xfrm>
          <a:prstGeom prst="rect">
            <a:avLst/>
          </a:prstGeom>
          <a:solidFill>
            <a:srgbClr val="025E73"/>
          </a:solidFill>
          <a:ln w="12700">
            <a:solidFill>
              <a:srgbClr val="025E73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440680" y="198424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5440680" y="242316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F1, Confusion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D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7452360" y="1005840"/>
            <a:ext cx="822960" cy="822960"/>
          </a:xfrm>
          <a:prstGeom prst="ellipse">
            <a:avLst/>
          </a:prstGeom>
          <a:solidFill>
            <a:srgbClr val="013A4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7808" y="1161288"/>
            <a:ext cx="512064" cy="512064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7178040" y="1965960"/>
            <a:ext cx="1600200" cy="411480"/>
          </a:xfrm>
          <a:prstGeom prst="rect">
            <a:avLst/>
          </a:prstGeom>
          <a:solidFill>
            <a:srgbClr val="013A4A"/>
          </a:solidFill>
          <a:ln w="12700">
            <a:solidFill>
              <a:srgbClr val="013A4A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7178040" y="198424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7178040" y="242316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mô hình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D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device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274320" y="3383280"/>
            <a:ext cx="8503920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457200" y="345643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hình Impulse</a:t>
            </a:r>
            <a:endParaRPr lang="en-US" sz="1300" dirty="0"/>
          </a:p>
        </p:txBody>
      </p:sp>
      <p:sp>
        <p:nvSpPr>
          <p:cNvPr id="40" name="Text 33"/>
          <p:cNvSpPr/>
          <p:nvPr/>
        </p:nvSpPr>
        <p:spPr>
          <a:xfrm>
            <a:off x="457200" y="3840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Window size: 1.000 ms</a:t>
            </a:r>
            <a:endParaRPr lang="en-US" sz="1150" dirty="0"/>
          </a:p>
        </p:txBody>
      </p:sp>
      <p:sp>
        <p:nvSpPr>
          <p:cNvPr id="41" name="Text 34"/>
          <p:cNvSpPr/>
          <p:nvPr/>
        </p:nvSpPr>
        <p:spPr>
          <a:xfrm>
            <a:off x="3291840" y="3840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Processing: Audio MFCC</a:t>
            </a:r>
            <a:endParaRPr lang="en-US" sz="1150" dirty="0"/>
          </a:p>
        </p:txBody>
      </p:sp>
      <p:sp>
        <p:nvSpPr>
          <p:cNvPr id="42" name="Text 35"/>
          <p:cNvSpPr/>
          <p:nvPr/>
        </p:nvSpPr>
        <p:spPr>
          <a:xfrm>
            <a:off x="6126480" y="3840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Learning: Classification CNN</a:t>
            </a:r>
            <a:endParaRPr lang="en-US" sz="1150" dirty="0"/>
          </a:p>
        </p:txBody>
      </p:sp>
      <p:sp>
        <p:nvSpPr>
          <p:cNvPr id="43" name="Text 36"/>
          <p:cNvSpPr/>
          <p:nvPr/>
        </p:nvSpPr>
        <p:spPr>
          <a:xfrm>
            <a:off x="457200" y="4251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Sample rate: 16.000 Hz</a:t>
            </a:r>
            <a:endParaRPr lang="en-US" sz="1150" dirty="0"/>
          </a:p>
        </p:txBody>
      </p:sp>
      <p:sp>
        <p:nvSpPr>
          <p:cNvPr id="44" name="Text 37"/>
          <p:cNvSpPr/>
          <p:nvPr/>
        </p:nvSpPr>
        <p:spPr>
          <a:xfrm>
            <a:off x="3291840" y="4251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Training: 300 epochs</a:t>
            </a:r>
            <a:endParaRPr lang="en-US" sz="1150" dirty="0"/>
          </a:p>
        </p:txBody>
      </p:sp>
      <p:sp>
        <p:nvSpPr>
          <p:cNvPr id="45" name="Text 38"/>
          <p:cNvSpPr/>
          <p:nvPr/>
        </p:nvSpPr>
        <p:spPr>
          <a:xfrm>
            <a:off x="6126480" y="4251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Model: Float32</a:t>
            </a:r>
            <a:endParaRPr lang="en-US" sz="1150" dirty="0"/>
          </a:p>
        </p:txBody>
      </p:sp>
      <p:sp>
        <p:nvSpPr>
          <p:cNvPr id="46" name="Shape 3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HUẤN LUYỆN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651760" cy="1463040"/>
          </a:xfrm>
          <a:prstGeom prst="rect">
            <a:avLst/>
          </a:prstGeom>
          <a:solidFill>
            <a:srgbClr val="027A48"/>
          </a:solidFill>
          <a:ln w="12700">
            <a:solidFill>
              <a:srgbClr val="027A48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686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74320" y="16459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(Validation)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777240"/>
            <a:ext cx="2651760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54680" y="8686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154680" y="16459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(Test Set)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777240"/>
            <a:ext cx="2651760" cy="1463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8686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035040" y="16459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(Test Set)</a:t>
            </a:r>
            <a:endParaRPr lang="en-US" sz="110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274320" y="2423160"/>
          <a:ext cx="850392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Shape 1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TEST SET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126480" y="777240"/>
            <a:ext cx="2743200" cy="41148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63640" y="8686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Xét</a:t>
            </a:r>
            <a:endParaRPr lang="en-US" sz="1400" dirty="0"/>
          </a:p>
        </p:txBody>
      </p:sp>
      <p:sp>
        <p:nvSpPr>
          <p:cNvPr id="5" name="Text 5"/>
          <p:cNvSpPr/>
          <p:nvPr/>
        </p:nvSpPr>
        <p:spPr>
          <a:xfrm>
            <a:off x="6263640" y="14173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"co": 100%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1.00 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63640" y="21945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"khong": 100%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1.00 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63640" y="29718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"unknown": 91.7%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0.96 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263640" y="37490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"noise": 92.3%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0.92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8F5F341-77DF-683D-28FB-B16186974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566" y="1113905"/>
            <a:ext cx="5827076" cy="33209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2 LẦN HUẤN LUYỆN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3840480" cy="40233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68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LẦN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12984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Quantized int8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6916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46.2%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274320" y="2514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29260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0.44  |  100 epochs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Noise bị nhầm 83% sang unknown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Khong bị nhầm 43% sang co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Dữ liệu ít, chưa đa dạng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06240" y="21945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</a:rPr>
              <a:t>→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5029200" y="777240"/>
            <a:ext cx="3840480" cy="4023360"/>
          </a:xfrm>
          <a:prstGeom prst="rect">
            <a:avLst/>
          </a:prstGeom>
          <a:solidFill>
            <a:srgbClr val="027A48"/>
          </a:solidFill>
          <a:ln w="12700">
            <a:solidFill>
              <a:srgbClr val="027A4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0" y="868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LẦN 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0" y="12984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Float32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16916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5029200" y="2514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29260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0.98  |  300 epochs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12080" y="338328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Thêm mẫu noise (+30 mẫu)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Tăng epochs 100 → 300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Chuyển sang Float32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 &amp; HƯỚNG PHÁT TRIỂN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023360" cy="406908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914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14630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Đạt F1 = 1.00 cho "có" và "không" (test)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20574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Weighted F1 = 0.98 (test) &gt; mục tiêu 0.90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26517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Accuracy = 96% trên tập test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32461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AUC-ROC = 1.00 (hoàn hảo)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38404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Xuất TFLite sẵn sàng triển khai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480560" y="777240"/>
            <a:ext cx="4389120" cy="4069080"/>
          </a:xfrm>
          <a:prstGeom prst="rect">
            <a:avLst/>
          </a:prstGeom>
          <a:solidFill>
            <a:srgbClr val="1C7293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91440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66360" y="9144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Phát Triển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663440" y="146304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Mở rộng thêm từ khóa tiếng Việt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663440" y="20574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Triển khai Raspberry Pi / ESP32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4663440" y="26517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Thu dữ liệu đa giọng đa vùng miền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4663440" y="32461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augmentation (nhiễu, pitch)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4663440" y="38404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Quantization INT8 cho MCU nhỏ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LIỆU THAM KHẢO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73152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795528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P. Warden, "Speech Commands: A Dataset for Limited-Vocabulary Speech Recognition," arXiv:1804.03209, 2018.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472184"/>
            <a:ext cx="73152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9047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Y. Zhang et al., "Hello Edge: Keyword Spotting on Microcontrollers," arXiv:1711.07128, 2017.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167128"/>
            <a:ext cx="73152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85416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Edge Impulse Inc., "Edge Impulse Documentation," 2024. https://docs.edgeimpulse.com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862072"/>
            <a:ext cx="73152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8803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D. Banbury et al., "Benchmarking TinyML Systems," arXiv:2003.04821, 2020.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557016"/>
            <a:ext cx="73152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575304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S. Davis &amp; P. Mermelstein, "Comparison of parametric representations for monosyllabic word recognition," IEEE Trans. ASSP, vol. 28, no. 4, 1980.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4251960"/>
            <a:ext cx="73152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270248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TensorFlow Team, "TFLite for Microcontrollers," Google, 2023. https://tensorflow.org/lite/microcontrollers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457200"/>
            <a:ext cx="2743200" cy="2743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100584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383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XIN CẢM ƠN!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D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Kính mời Thầy/Cô và các bạn đặt câu hỏi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KWS  |  Edge Impulse  |  PTIT HCM  |  2026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792</Words>
  <Application>Microsoft Macintosh PowerPoint</Application>
  <PresentationFormat>On-screen Show (16:9)</PresentationFormat>
  <Paragraphs>154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Audio Keyword Spotting - PTIT</dc:title>
  <dc:subject>PptxGenJS Presentation</dc:subject>
  <dc:creator>PptxGenJS</dc:creator>
  <cp:lastModifiedBy>Quý chu</cp:lastModifiedBy>
  <cp:revision>2</cp:revision>
  <dcterms:created xsi:type="dcterms:W3CDTF">2026-06-06T07:57:45Z</dcterms:created>
  <dcterms:modified xsi:type="dcterms:W3CDTF">2026-06-06T09:17:38Z</dcterms:modified>
</cp:coreProperties>
</file>